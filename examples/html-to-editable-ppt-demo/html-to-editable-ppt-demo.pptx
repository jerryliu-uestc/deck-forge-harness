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4849" y="590549"/>
            <a:ext cx="247649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1">
                <a:solidFill>
                  <a:srgbClr val="2DD4BF"/>
                </a:solidFill>
                <a:latin typeface="Arial"/>
              </a:defRPr>
            </a:pPr>
            <a:r>
              <a:t>HTML TO EDITABLE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799" y="1333500"/>
            <a:ext cx="7334249" cy="1381124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5200" b="1">
                <a:solidFill>
                  <a:srgbClr val="F9FAFB"/>
                </a:solidFill>
                <a:latin typeface="Arial"/>
              </a:defRPr>
            </a:pPr>
            <a:r>
              <a:t>Image-first decks,</a:t>
            </a:r>
            <a:br/>
            <a:r>
              <a:t>editable by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899" y="3028950"/>
            <a:ext cx="5905499" cy="8762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 b="0">
                <a:solidFill>
                  <a:srgbClr val="CBD5E1"/>
                </a:solidFill>
                <a:latin typeface="Arial"/>
              </a:defRPr>
            </a:pPr>
            <a:r>
              <a:t>Turn screenshots, generated slide art,</a:t>
            </a:r>
            <a:br/>
            <a:r>
              <a:t>and frontend slide canvases into</a:t>
            </a:r>
            <a:br/>
            <a:r>
              <a:t>editable PowerPoint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24749" y="895350"/>
            <a:ext cx="3428999" cy="1219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29549" y="1143000"/>
            <a:ext cx="2857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500" b="1">
                <a:solidFill>
                  <a:srgbClr val="FFFFFF"/>
                </a:solidFill>
                <a:latin typeface="Arial"/>
              </a:defRPr>
            </a:pPr>
            <a:r>
              <a:t>1. Ask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599" y="1562100"/>
            <a:ext cx="2724149" cy="4000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CCFBF1"/>
                </a:solidFill>
                <a:latin typeface="Arial"/>
              </a:defRPr>
            </a:pPr>
            <a:r>
              <a:t>Clarify intent, style,</a:t>
            </a:r>
            <a:br/>
            <a:r>
              <a:t>and fidelity.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0499" y="2476499"/>
            <a:ext cx="3428999" cy="121920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5299" y="2724150"/>
            <a:ext cx="2857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500" b="1">
                <a:solidFill>
                  <a:srgbClr val="111827"/>
                </a:solidFill>
                <a:latin typeface="Arial"/>
              </a:defRPr>
            </a:pPr>
            <a:r>
              <a:t>2. Build editable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4349" y="3143250"/>
            <a:ext cx="2724149" cy="4000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431407"/>
                </a:solidFill>
                <a:latin typeface="Arial"/>
              </a:defRPr>
            </a:pPr>
            <a:r>
              <a:t>Use shapes, text,</a:t>
            </a:r>
            <a:br/>
            <a:r>
              <a:t>cards, and crops.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6249" y="4057650"/>
            <a:ext cx="3428999" cy="12192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1049" y="4305300"/>
            <a:ext cx="2857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500" b="1">
                <a:solidFill>
                  <a:srgbClr val="111827"/>
                </a:solidFill>
                <a:latin typeface="Arial"/>
              </a:defRPr>
            </a:pPr>
            <a:r>
              <a:t>3. Render and QA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099" y="4724399"/>
            <a:ext cx="2724149" cy="4000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374151"/>
                </a:solidFill>
                <a:latin typeface="Arial"/>
              </a:defRPr>
            </a:pPr>
            <a:r>
              <a:t>Render images,</a:t>
            </a:r>
            <a:br/>
            <a:r>
              <a:t>inspect, then fix.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3899" y="5467349"/>
            <a:ext cx="5619749" cy="47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899" y="5676900"/>
            <a:ext cx="49529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94A3B8"/>
                </a:solidFill>
                <a:latin typeface="Arial"/>
              </a:defRPr>
            </a:pPr>
            <a:r>
              <a:t>Demo deck generated from examples/html-to-editable-ppt-demo/deck-schema.json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49" y="514350"/>
            <a:ext cx="9334499" cy="533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700" b="1">
                <a:solidFill>
                  <a:srgbClr val="111827"/>
                </a:solidFill>
                <a:latin typeface="Arial"/>
              </a:defRPr>
            </a:pPr>
            <a:r>
              <a:t>Workflow: from intent to verified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849" y="1104900"/>
            <a:ext cx="7238999" cy="3048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475569"/>
                </a:solidFill>
                <a:latin typeface="Arial"/>
              </a:defRPr>
            </a:pPr>
            <a:r>
              <a:t>The plugin keeps agent behavior disciplined: ask the right questions, choose the right backend, and verify the visual result.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49" y="1828800"/>
            <a:ext cx="2381249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3449" y="2095499"/>
            <a:ext cx="45719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700" b="1">
                <a:solidFill>
                  <a:srgbClr val="0F766E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49" y="2819399"/>
            <a:ext cx="1714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99" y="3352800"/>
            <a:ext cx="1638299" cy="5524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64748B"/>
                </a:solidFill>
                <a:latin typeface="Arial"/>
              </a:defRPr>
            </a:pPr>
            <a:r>
              <a:t>Audience</a:t>
            </a:r>
            <a:br/>
            <a:r>
              <a:t>Sources</a:t>
            </a:r>
            <a:br/>
            <a:r>
              <a:t>Style target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3143249" y="2990849"/>
            <a:ext cx="552449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90949" y="1828800"/>
            <a:ext cx="2381249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7649" y="2095499"/>
            <a:ext cx="45719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700" b="1">
                <a:solidFill>
                  <a:srgbClr val="0F7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7649" y="2819399"/>
            <a:ext cx="1714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Layout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699" y="3352800"/>
            <a:ext cx="1638299" cy="5524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64748B"/>
                </a:solidFill>
                <a:latin typeface="Arial"/>
              </a:defRPr>
            </a:pPr>
            <a:r>
              <a:t>Browser render</a:t>
            </a:r>
            <a:br/>
            <a:r>
              <a:t>Visual direction</a:t>
            </a:r>
            <a:br/>
            <a:r>
              <a:t>Reference capture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7449" y="2990849"/>
            <a:ext cx="552449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15149" y="1828800"/>
            <a:ext cx="2381249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1849" y="2095499"/>
            <a:ext cx="45719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700" b="1">
                <a:solidFill>
                  <a:srgbClr val="0F766E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1849" y="2819399"/>
            <a:ext cx="1714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899" y="3352800"/>
            <a:ext cx="1638299" cy="5524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64748B"/>
                </a:solidFill>
                <a:latin typeface="Arial"/>
              </a:defRPr>
            </a:pPr>
            <a:r>
              <a:t>Text boxes</a:t>
            </a:r>
            <a:br/>
            <a:r>
              <a:t>Cards and lines</a:t>
            </a:r>
            <a:br/>
            <a:r>
              <a:t>Image crops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1649" y="2990849"/>
            <a:ext cx="552449" cy="381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39349" y="1828800"/>
            <a:ext cx="1466849" cy="238125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06049" y="2095499"/>
            <a:ext cx="457199" cy="4572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700" b="1">
                <a:solidFill>
                  <a:srgbClr val="2DD4B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06049" y="2819399"/>
            <a:ext cx="85724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F9FAFB"/>
                </a:solidFill>
                <a:latin typeface="Arial"/>
              </a:defRPr>
            </a:pPr>
            <a:r>
              <a:t>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25099" y="3352800"/>
            <a:ext cx="838199" cy="5524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200" b="0">
                <a:solidFill>
                  <a:srgbClr val="CBD5E1"/>
                </a:solidFill>
                <a:latin typeface="Arial"/>
              </a:defRPr>
            </a:pPr>
            <a:r>
              <a:t>Render images and inspect.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49" y="4895849"/>
            <a:ext cx="9810749" cy="819149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1099" y="5114925"/>
            <a:ext cx="8572499" cy="3429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900" b="1">
                <a:solidFill>
                  <a:srgbClr val="155E75"/>
                </a:solidFill>
                <a:latin typeface="Arial"/>
              </a:defRPr>
            </a:pPr>
            <a:r>
              <a:t>Design rule: readable hierarchy, visible structure, enough whitespace.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49" y="514350"/>
            <a:ext cx="9334499" cy="533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600" b="1">
                <a:solidFill>
                  <a:srgbClr val="111827"/>
                </a:solidFill>
                <a:latin typeface="Arial"/>
              </a:defRPr>
            </a:pPr>
            <a:r>
              <a:t>Editable reconstruction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849" y="1200150"/>
            <a:ext cx="723899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475569"/>
                </a:solidFill>
                <a:latin typeface="Arial"/>
              </a:defRPr>
            </a:pPr>
            <a:r>
              <a:t>Native text boxes, rounded rectangles, and shape bars.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849" y="1809749"/>
            <a:ext cx="4400549" cy="325755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699" y="2114550"/>
            <a:ext cx="314324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Source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699" y="2705099"/>
            <a:ext cx="1619249" cy="838200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9199" y="2876549"/>
            <a:ext cx="1200149" cy="28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199" y="3238500"/>
            <a:ext cx="1200149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CCFBF1"/>
                </a:solidFill>
                <a:latin typeface="Arial"/>
              </a:defRPr>
            </a:pPr>
            <a:r>
              <a:t>editable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4649" y="2705099"/>
            <a:ext cx="1619249" cy="83820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5149" y="2876549"/>
            <a:ext cx="1200149" cy="28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5149" y="3238500"/>
            <a:ext cx="1200149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431407"/>
                </a:solidFill>
                <a:latin typeface="Arial"/>
              </a:defRPr>
            </a:pPr>
            <a:r>
              <a:t>editable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699" y="3829050"/>
            <a:ext cx="1619249" cy="83820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9199" y="4000500"/>
            <a:ext cx="1200149" cy="28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</a:defRPr>
            </a:pPr>
            <a:r>
              <a:t>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199" y="4362450"/>
            <a:ext cx="1200149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475569"/>
                </a:solidFill>
                <a:latin typeface="Arial"/>
              </a:defRPr>
            </a:pPr>
            <a:r>
              <a:t>editable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14649" y="3829050"/>
            <a:ext cx="1619249" cy="838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5149" y="4000500"/>
            <a:ext cx="1200149" cy="2857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5149" y="4362450"/>
            <a:ext cx="1200149" cy="1904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300" b="0">
                <a:solidFill>
                  <a:srgbClr val="CBD5E1"/>
                </a:solidFill>
                <a:latin typeface="Arial"/>
              </a:defRPr>
            </a:pPr>
            <a:r>
              <a:t>cropped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1699" y="1676400"/>
            <a:ext cx="4952999" cy="360045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2699" y="2019299"/>
            <a:ext cx="3809999" cy="4191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100" b="1">
                <a:solidFill>
                  <a:srgbClr val="F9FAFB"/>
                </a:solidFill>
                <a:latin typeface="Arial"/>
              </a:defRPr>
            </a:pPr>
            <a:r>
              <a:t>Editable objects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1749" y="2819399"/>
            <a:ext cx="3314699" cy="133349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81749" y="3219449"/>
            <a:ext cx="2495549" cy="133349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81749" y="3619499"/>
            <a:ext cx="3867149" cy="13334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1749" y="4019549"/>
            <a:ext cx="2933699" cy="133349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1749" y="4305300"/>
            <a:ext cx="3809999" cy="533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CBD5E1"/>
                </a:solidFill>
                <a:latin typeface="Arial"/>
              </a:defRPr>
            </a:pPr>
            <a:r>
              <a:t>Use raster fallback only for photos, game screenshots, logos, and complex artwork that should remain visually exact.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799" y="514350"/>
            <a:ext cx="7810499" cy="533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700" b="1">
                <a:solidFill>
                  <a:srgbClr val="F9FAFB"/>
                </a:solidFill>
                <a:latin typeface="Arial"/>
              </a:defRPr>
            </a:pPr>
            <a:r>
              <a:t>Harness-anything backend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3899" y="1104900"/>
            <a:ext cx="742949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CBD5E1"/>
                </a:solidFill>
                <a:latin typeface="Arial"/>
              </a:defRPr>
            </a:pPr>
            <a:r>
              <a:t>The skill borrows the useful harness idea: detect local capabilities, route to the best backend, and fail with actionable gaps.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799" y="1962149"/>
            <a:ext cx="2952749" cy="257175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99" y="2266950"/>
            <a:ext cx="2381249" cy="3619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500" b="1">
                <a:solidFill>
                  <a:srgbClr val="111827"/>
                </a:solidFill>
                <a:latin typeface="Arial"/>
              </a:defRPr>
            </a:pPr>
            <a:r>
              <a:t>macOS +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49" y="30289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python-pptx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49" y="33718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LibreOffice + Poppler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49" y="37147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Playwright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9649" y="4038599"/>
            <a:ext cx="1943099" cy="5715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4349" y="1962149"/>
            <a:ext cx="2952749" cy="257175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9149" y="2266950"/>
            <a:ext cx="2381249" cy="3619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199" y="30289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python-pptx + pywin32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199" y="33718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WPS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199" y="37147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334155"/>
                </a:solidFill>
                <a:latin typeface="Arial"/>
              </a:defRPr>
            </a:pPr>
            <a:r>
              <a:t>Microsoft Office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8199" y="4038599"/>
            <a:ext cx="1943099" cy="571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62899" y="1962149"/>
            <a:ext cx="2952749" cy="257175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7699" y="2266950"/>
            <a:ext cx="2381249" cy="3619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800" b="1">
                <a:solidFill>
                  <a:srgbClr val="111827"/>
                </a:solidFill>
                <a:latin typeface="Arial"/>
              </a:defRPr>
            </a:pPr>
            <a:r>
              <a:t>Fallbacks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6749" y="30289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431407"/>
                </a:solidFill>
                <a:latin typeface="Arial"/>
              </a:defRPr>
            </a:pPr>
            <a:r>
              <a:t>Report missing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6749" y="33718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431407"/>
                </a:solidFill>
                <a:latin typeface="Arial"/>
              </a:defRPr>
            </a:pPr>
            <a:r>
              <a:t>Skip unsupported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49" y="3714750"/>
            <a:ext cx="2209799" cy="2666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600" b="0">
                <a:solidFill>
                  <a:srgbClr val="431407"/>
                </a:solidFill>
                <a:latin typeface="Arial"/>
              </a:defRPr>
            </a:pPr>
            <a:r>
              <a:t>Keep deck usable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86749" y="4038599"/>
            <a:ext cx="1943099" cy="571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549" y="5353049"/>
            <a:ext cx="8572499" cy="4952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2000" b="1">
                <a:solidFill>
                  <a:srgbClr val="F9FAFB"/>
                </a:solidFill>
                <a:latin typeface="Arial"/>
              </a:defRPr>
            </a:pPr>
            <a:r>
              <a:t>Download ZIP, enable the plugin,</a:t>
            </a:r>
            <a:br/>
            <a:r>
              <a:t>or ask Codex to install it safely.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49" y="514350"/>
            <a:ext cx="7238999" cy="53339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800" b="1">
                <a:solidFill>
                  <a:srgbClr val="111827"/>
                </a:solidFill>
                <a:latin typeface="Arial"/>
              </a:defRPr>
            </a:pPr>
            <a:r>
              <a:t>QA loop: render, inspect,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4849" y="1104900"/>
            <a:ext cx="685799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475569"/>
                </a:solidFill>
                <a:latin typeface="Arial"/>
              </a:defRPr>
            </a:pPr>
            <a:r>
              <a:t>A deck is not done when the PPTX file exists. It is done when the rendered slides pass visual inspection.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2949" y="1866899"/>
            <a:ext cx="10001249" cy="304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00149" y="2381250"/>
            <a:ext cx="1866899" cy="12573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6849" y="2686050"/>
            <a:ext cx="135254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000" b="1">
                <a:solidFill>
                  <a:srgbClr val="FFFFFF"/>
                </a:solidFill>
                <a:latin typeface="Arial"/>
              </a:defRPr>
            </a:pPr>
            <a:r>
              <a:t>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49" y="3143250"/>
            <a:ext cx="135254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CBD5E1"/>
                </a:solidFill>
                <a:latin typeface="Arial"/>
              </a:defRPr>
            </a:pPr>
            <a:r>
              <a:t>editable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57549" y="2990849"/>
            <a:ext cx="1123949" cy="476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1999" y="2381250"/>
            <a:ext cx="1866899" cy="12573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38699" y="2686050"/>
            <a:ext cx="135254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000" b="1">
                <a:solidFill>
                  <a:srgbClr val="155E75"/>
                </a:solidFill>
                <a:latin typeface="Arial"/>
              </a:defRPr>
            </a:pPr>
            <a:r>
              <a:t>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8699" y="3143250"/>
            <a:ext cx="135254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155E75"/>
                </a:solidFill>
                <a:latin typeface="Arial"/>
              </a:defRPr>
            </a:pPr>
            <a:r>
              <a:t>slide 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399" y="2990849"/>
            <a:ext cx="1123949" cy="4762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43849" y="2381250"/>
            <a:ext cx="1866899" cy="1257300"/>
          </a:xfrm>
          <a:prstGeom prst="roundRect">
            <a:avLst/>
          </a:prstGeom>
          <a:solidFill>
            <a:srgbClr val="F97316"/>
          </a:solidFill>
          <a:ln w="127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0549" y="2686050"/>
            <a:ext cx="1352549" cy="3238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3000" b="1">
                <a:solidFill>
                  <a:srgbClr val="111827"/>
                </a:solidFill>
                <a:latin typeface="Arial"/>
              </a:defRPr>
            </a:pPr>
            <a: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549" y="3143250"/>
            <a:ext cx="1352549" cy="247649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500" b="0">
                <a:solidFill>
                  <a:srgbClr val="431407"/>
                </a:solidFill>
                <a:latin typeface="Arial"/>
              </a:defRPr>
            </a:pPr>
            <a:r>
              <a:t>layout defects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199" y="5372100"/>
            <a:ext cx="8039099" cy="590549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4049" y="5562600"/>
            <a:ext cx="7524749" cy="2286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 b="1">
                <a:solidFill>
                  <a:srgbClr val="F9FAFB"/>
                </a:solidFill>
                <a:latin typeface="Arial"/>
              </a:defRPr>
            </a:pPr>
            <a:r>
              <a:t>Final deliverable: html-to-editable-ppt-demo.pptx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